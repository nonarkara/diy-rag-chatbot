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9A59A"/>
                </a:solidFill>
                <a:latin typeface="Inter"/>
                <a:ea typeface="Sarabun"/>
                <a:cs typeface="Sarabun"/>
              </a:rPr>
              <a:t>PRACTICAL BUILD GUIDE  ·  2026  ·  TH / 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91712"/>
                </a:solidFill>
                <a:latin typeface="Sarabun"/>
                <a:ea typeface="Sarabun"/>
                <a:cs typeface="Sarabun"/>
              </a:rPr>
              <a:t>แร็กทำเองของดร.นน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317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191712"/>
                </a:solidFill>
                <a:latin typeface="Spectral"/>
                <a:ea typeface="Sarabun"/>
                <a:cs typeface="Sarabun"/>
              </a:rPr>
              <a:t>DIY RAG / Chatbot-as-a-Self-Service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1752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1">
                <a:solidFill>
                  <a:srgbClr val="A8322B"/>
                </a:solidFill>
                <a:latin typeface="Sarabun"/>
                <a:ea typeface="Sarabun"/>
                <a:cs typeface="Sarabun"/>
              </a:rPr>
              <a:t>โฟลเดอร์คือสมอง
ไลน์คือปาก
โมเดลคือล่าม — ไม่ใช่เจ้านาย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663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F6C63"/>
                </a:solidFill>
                <a:latin typeface="Sarabun"/>
                <a:ea typeface="Sarabun"/>
                <a:cs typeface="Sarabun"/>
              </a:rPr>
              <a:t>โคลน repo นี้ → บอกเอเจนต์ให้อ่าน AGENTS.md → เอเจนต์พาไปทีละเว็บจน LINE OA ตอบจากไฟล์ได้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9A59A"/>
                </a:solidFill>
                <a:latin typeface="Sarabun"/>
                <a:ea typeface="Sarabun"/>
                <a:cs typeface="Sarabun"/>
              </a:rPr>
              <a:t>ไม่ใช่ผลิตภัณฑ์ทางการของ depa / สำนักงานเมืองอัจฉริยะ / LINE</a:t>
            </a:r>
          </a:p>
        </p:txBody>
      </p:sp>
      <p:pic>
        <p:nvPicPr>
          <p:cNvPr id="9" name="Picture 8" descr="axiom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411480"/>
            <a:ext cx="64008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9A59A"/>
                </a:solidFill>
                <a:latin typeface="Inter"/>
                <a:ea typeface="Sarabun"/>
                <a:cs typeface="Sarabun"/>
              </a:rPr>
              <a:t>DR NON'S DIY RAG  ·  CHATBOT-AS-A-SELF-SERVICE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0116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A9A59A"/>
                </a:solidFill>
                <a:latin typeface="Inter"/>
                <a:ea typeface="Sarabun"/>
                <a:cs typeface="Sarabun"/>
              </a:rPr>
              <a:t>02 /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75488"/>
            <a:ext cx="11274552" cy="12700"/>
          </a:xfrm>
          <a:prstGeom prst="rect">
            <a:avLst/>
          </a:prstGeom>
          <a:solidFill>
            <a:srgbClr val="191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9A59A"/>
                </a:solidFill>
                <a:latin typeface="Inter"/>
                <a:ea typeface="Sarabun"/>
                <a:cs typeface="Sarabun"/>
              </a:rPr>
              <a:t>02  ·  THE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9A59A"/>
                </a:solidFill>
                <a:latin typeface="Sarabun"/>
                <a:ea typeface="Sarabun"/>
                <a:cs typeface="Sarabun"/>
              </a:rPr>
              <a:t>โฟลเดอร์คือสมอง  ·  ไลน์คือปาก  ·  โมเดลคือล่าม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65392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9A59A"/>
                </a:solidFill>
                <a:latin typeface="Inter"/>
                <a:ea typeface="Sarabun"/>
                <a:cs typeface="Sarabun"/>
              </a:rPr>
              <a:t>Axiom Design Core  ·  Editorial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91712"/>
                </a:solidFill>
                <a:latin typeface="Sarabun"/>
                <a:ea typeface="Sarabun"/>
                <a:cs typeface="Sarabun"/>
              </a:rPr>
              <a:t>คิดให้ง่ายก่อน: ค้นก่อน แล้วค่อยตอบ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210312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1664208"/>
            <a:ext cx="18470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9A59A"/>
                </a:solidFill>
                <a:latin typeface="Inter"/>
                <a:ea typeface="Sarabun"/>
                <a:cs typeface="Sarabun"/>
              </a:rPr>
              <a:t>01  คนใช้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920240"/>
            <a:ext cx="1847088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91712"/>
                </a:solidFill>
                <a:latin typeface="Sarabun"/>
                <a:ea typeface="Sarabun"/>
                <a:cs typeface="Sarabun"/>
              </a:rPr>
              <a:t>ถามเป็นภาษาไทยใน LINE OA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97480" y="1554480"/>
            <a:ext cx="210312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43784" y="1664208"/>
            <a:ext cx="18470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9A59A"/>
                </a:solidFill>
                <a:latin typeface="Inter"/>
                <a:ea typeface="Sarabun"/>
                <a:cs typeface="Sarabun"/>
              </a:rPr>
              <a:t>02  WEBHOOK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43784" y="1920240"/>
            <a:ext cx="1847088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91712"/>
                </a:solidFill>
                <a:latin typeface="Sarabun"/>
                <a:ea typeface="Sarabun"/>
                <a:cs typeface="Sarabun"/>
              </a:rPr>
              <a:t>LINE ส่ง HTTPS POST
ตรวจลายเซ็นก่อนทำอะไร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0" y="1554480"/>
            <a:ext cx="210312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84064" y="1664208"/>
            <a:ext cx="18470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9A59A"/>
                </a:solidFill>
                <a:latin typeface="Inter"/>
                <a:ea typeface="Sarabun"/>
                <a:cs typeface="Sarabun"/>
              </a:rPr>
              <a:t>03  ค้นในโฟลเดอร์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84064" y="1920240"/>
            <a:ext cx="1847088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91712"/>
                </a:solidFill>
                <a:latin typeface="Sarabun"/>
                <a:ea typeface="Sarabun"/>
                <a:cs typeface="Sarabun"/>
              </a:rPr>
              <a:t>เวกเตอร์ + คำตรงตัว
bge-m3 · SQLite ไม่ใช่ Chroma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78040" y="1554480"/>
            <a:ext cx="210312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24344" y="1664208"/>
            <a:ext cx="18470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9A59A"/>
                </a:solidFill>
                <a:latin typeface="Inter"/>
                <a:ea typeface="Sarabun"/>
                <a:cs typeface="Sarabun"/>
              </a:rPr>
              <a:t>04  ล่าม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24344" y="1920240"/>
            <a:ext cx="1847088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91712"/>
                </a:solidFill>
                <a:latin typeface="Sarabun"/>
                <a:ea typeface="Sarabun"/>
                <a:cs typeface="Sarabun"/>
              </a:rPr>
              <a:t>โมเดลเรียบเรียงจากชิ้นที่ค้นได้เท่านั้น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418320" y="1554480"/>
            <a:ext cx="22860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64624" y="1664208"/>
            <a:ext cx="20299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9A59A"/>
                </a:solidFill>
                <a:latin typeface="Inter"/>
                <a:ea typeface="Sarabun"/>
                <a:cs typeface="Sarabun"/>
              </a:rPr>
              <a:t>05  กลับไลน์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64624" y="1920240"/>
            <a:ext cx="2029968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322B"/>
                </a:solidFill>
                <a:latin typeface="Sarabun"/>
                <a:ea typeface="Sarabun"/>
                <a:cs typeface="Sarabun"/>
              </a:rPr>
              <a:t>Push ไม่ใช่ Reply
ถอดมาร์กดาวน์ + คำเตือน 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02920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F6C63"/>
                </a:solidFill>
                <a:latin typeface="Sarabun"/>
                <a:ea typeface="Sarabun"/>
                <a:cs typeface="Sarabun"/>
              </a:rPr>
              <a:t>กฎทอง: ถ้าหลักฐานไม่พอ ต้องตอบว่าไม่พบในเอกสารที่มี — แทนการเดา
อย่าเรียกสิ่งนี้ว่าเอเจนต์ จนกว่ามันจะต้องลงมือ (จองคิว รับเรื่อง ออกเอกสาร)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9A59A"/>
                </a:solidFill>
                <a:latin typeface="Inter"/>
                <a:ea typeface="Sarabun"/>
                <a:cs typeface="Sarabun"/>
              </a:rPr>
              <a:t>DR NON'S DIY RAG  ·  CHATBOT-AS-A-SELF-SERVICE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0116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A9A59A"/>
                </a:solidFill>
                <a:latin typeface="Inter"/>
                <a:ea typeface="Sarabun"/>
                <a:cs typeface="Sarabun"/>
              </a:rPr>
              <a:t>03 /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75488"/>
            <a:ext cx="11274552" cy="12700"/>
          </a:xfrm>
          <a:prstGeom prst="rect">
            <a:avLst/>
          </a:prstGeom>
          <a:solidFill>
            <a:srgbClr val="191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9A59A"/>
                </a:solidFill>
                <a:latin typeface="Inter"/>
                <a:ea typeface="Sarabun"/>
                <a:cs typeface="Sarabun"/>
              </a:rPr>
              <a:t>03  ·  WHO DOES WHAT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9A59A"/>
                </a:solidFill>
                <a:latin typeface="Sarabun"/>
                <a:ea typeface="Sarabun"/>
                <a:cs typeface="Sarabun"/>
              </a:rPr>
              <a:t>โฟลเดอร์คือสมอง  ·  ไลน์คือปาก  ·  โมเดลคือล่าม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65392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9A59A"/>
                </a:solidFill>
                <a:latin typeface="Inter"/>
                <a:ea typeface="Sarabun"/>
                <a:cs typeface="Sarabun"/>
              </a:rPr>
              <a:t>Axiom Design Core  ·  Editorial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686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91712"/>
                </a:solidFill>
                <a:latin typeface="Sarabun"/>
                <a:ea typeface="Sarabun"/>
                <a:cs typeface="Sarabun"/>
              </a:rPr>
              <a:t>คนทำบัญชี — เอเจนต์ทำเครื่อง — คู่มือจับมือทีละเว็บ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5486400" cy="429768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1664208"/>
            <a:ext cx="5230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9A59A"/>
                </a:solidFill>
                <a:latin typeface="Inter"/>
                <a:ea typeface="Sarabun"/>
                <a:cs typeface="Sarabun"/>
              </a:rPr>
              <a:t>คุณ (ไม่ต้องเขียนโค้ด)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920240"/>
            <a:ext cx="5230368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91712"/>
                </a:solidFill>
                <a:latin typeface="Sarabun"/>
                <a:ea typeface="Sarabun"/>
                <a:cs typeface="Sarabun"/>
              </a:rPr>
              <a:t>1. โคลน github.com/Nonarkara/diy-rag-chatbot
2. เปิด Cursor / Claude Code ในโฟลเดอร์นี้
3. พิมพ์: อ่าน AGENTS.md กับ START-HERE.md แล้วพาฉันทำทีละขั้น
4. สมัคร LINE OA + เปิด Messaging API ตามที่เอเจนต์ชี้
5. วางคีย์ลง .env เอง ห้ามวางในแชต
6. โยนไฟล์ลง knowledge/
7. กด START แล้ววาง webhook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554480"/>
            <a:ext cx="5577840" cy="429768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2784" y="1664208"/>
            <a:ext cx="5321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9A59A"/>
                </a:solidFill>
                <a:latin typeface="Inter"/>
                <a:ea typeface="Sarabun"/>
                <a:cs typeface="Sarabun"/>
              </a:rPr>
              <a:t>เอเจนต์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2784" y="1920240"/>
            <a:ext cx="5321808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91712"/>
                </a:solidFill>
                <a:latin typeface="Sarabun"/>
                <a:ea typeface="Sarabun"/>
                <a:cs typeface="Sarabun"/>
              </a:rPr>
              <a:t>อ่าน START-HERE.md แล้วเปิด URL ทีละสถานี
รอคำว่า เสร็จแล้ว ก่อนหน้าถัดไป
สร้างโค้ดตาม LINE_RAG_Claude_Code_Master_Prompt.md
ห้าม Chroma / LangChain / LlamaIndex
ห้าม localhost ใน cloudflared — ใช้ 127.0.0.1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9A59A"/>
                </a:solidFill>
                <a:latin typeface="Inter"/>
                <a:ea typeface="Sarabun"/>
                <a:cs typeface="Sarabun"/>
              </a:rPr>
              <a:t>DR NON'S DIY RAG  ·  CHATBOT-AS-A-SELF-SERVICE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0116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A9A59A"/>
                </a:solidFill>
                <a:latin typeface="Inter"/>
                <a:ea typeface="Sarabun"/>
                <a:cs typeface="Sarabun"/>
              </a:rPr>
              <a:t>04 /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75488"/>
            <a:ext cx="11274552" cy="12700"/>
          </a:xfrm>
          <a:prstGeom prst="rect">
            <a:avLst/>
          </a:prstGeom>
          <a:solidFill>
            <a:srgbClr val="191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9A59A"/>
                </a:solidFill>
                <a:latin typeface="Inter"/>
                <a:ea typeface="Sarabun"/>
                <a:cs typeface="Sarabun"/>
              </a:rPr>
              <a:t>04  ·  STEP 1  KNOWLEDGE FOLDER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9A59A"/>
                </a:solidFill>
                <a:latin typeface="Sarabun"/>
                <a:ea typeface="Sarabun"/>
                <a:cs typeface="Sarabun"/>
              </a:rPr>
              <a:t>โฟลเดอร์คือสมอง  ·  ไลน์คือปาก  ·  โมเดลคือล่าม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65392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9A59A"/>
                </a:solidFill>
                <a:latin typeface="Inter"/>
                <a:ea typeface="Sarabun"/>
                <a:cs typeface="Sarabun"/>
              </a:rPr>
              <a:t>Axiom Design Core  ·  Editorial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91712"/>
                </a:solidFill>
                <a:latin typeface="Sarabun"/>
                <a:ea typeface="Sarabun"/>
                <a:cs typeface="Sarabun"/>
              </a:rPr>
              <a:t>เริ่มจากโฟลเดอร์เดียวที่เป็นแหล่งความจริง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08760"/>
            <a:ext cx="557784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1618488"/>
            <a:ext cx="5321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9A59A"/>
                </a:solidFill>
                <a:latin typeface="Inter"/>
                <a:ea typeface="Sarabun"/>
                <a:cs typeface="Sarabun"/>
              </a:rPr>
              <a:t>โครงสร้าง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874520"/>
            <a:ext cx="5321808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91712"/>
                </a:solidFill>
                <a:latin typeface="Sarabun"/>
                <a:ea typeface="Sarabun"/>
                <a:cs typeface="Sarabun"/>
              </a:rPr>
              <a:t>knowledge/
├── คู่มือพนักงาน.pdf
├── ระเบียบ.docx
├── FAQ.xlsx
└── โครงการ/
    └── รายงาน.md
รองรับ PDF DOCX XLSX PPTX TXT MD
จำแฮช — อ่านเฉพาะไฟล์ที่เปลี่ยนหรือใหม่
ลบไฟล์ = ลบออกจากดัชนี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508760"/>
            <a:ext cx="548640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4224" y="1618488"/>
            <a:ext cx="5230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9A59A"/>
                </a:solidFill>
                <a:latin typeface="Inter"/>
                <a:ea typeface="Sarabun"/>
                <a:cs typeface="Sarabun"/>
              </a:rPr>
              <a:t>กฎ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1874520"/>
            <a:ext cx="5230368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91712"/>
                </a:solidFill>
                <a:latin typeface="Sarabun"/>
                <a:ea typeface="Sarabun"/>
                <a:cs typeface="Sarabun"/>
              </a:rPr>
              <a:t>โฟลเดอร์คือ source of truth
ดัชนี SQLite สร้างใหม่ได้เสมอ
PDF สแกนไม่มีชั้นข้อความ ต้องทำเครื่องหมายบน /admin ห้ามแกล้งว่ามีข้อความ
ตัดชิ้นภาษาไทยตามประโยค ไม่ตัดตามช่องว่าง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9A59A"/>
                </a:solidFill>
                <a:latin typeface="Inter"/>
                <a:ea typeface="Sarabun"/>
                <a:cs typeface="Sarabun"/>
              </a:rPr>
              <a:t>DR NON'S DIY RAG  ·  CHATBOT-AS-A-SELF-SERVICE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0116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A9A59A"/>
                </a:solidFill>
                <a:latin typeface="Inter"/>
                <a:ea typeface="Sarabun"/>
                <a:cs typeface="Sarabun"/>
              </a:rPr>
              <a:t>05 /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75488"/>
            <a:ext cx="11274552" cy="12700"/>
          </a:xfrm>
          <a:prstGeom prst="rect">
            <a:avLst/>
          </a:prstGeom>
          <a:solidFill>
            <a:srgbClr val="191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9A59A"/>
                </a:solidFill>
                <a:latin typeface="Inter"/>
                <a:ea typeface="Sarabun"/>
                <a:cs typeface="Sarabun"/>
              </a:rPr>
              <a:t>05  ·  STEP 2  LOCAL RAG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9A59A"/>
                </a:solidFill>
                <a:latin typeface="Sarabun"/>
                <a:ea typeface="Sarabun"/>
                <a:cs typeface="Sarabun"/>
              </a:rPr>
              <a:t>โฟลเดอร์คือสมอง  ·  ไลน์คือปาก  ·  โมเดลคือล่าม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65392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9A59A"/>
                </a:solidFill>
                <a:latin typeface="Inter"/>
                <a:ea typeface="Sarabun"/>
                <a:cs typeface="Sarabun"/>
              </a:rPr>
              <a:t>Axiom Design Core  ·  Editorial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91712"/>
                </a:solidFill>
                <a:latin typeface="Sarabun"/>
                <a:ea typeface="Sarabun"/>
                <a:cs typeface="Sarabun"/>
              </a:rPr>
              <a:t>สแตกที่วัดแล้ว — ไม่ใช่สแตกที่บล็อกแนะนำ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178308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1664208"/>
            <a:ext cx="1527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9A59A"/>
                </a:solidFill>
                <a:latin typeface="Inter"/>
                <a:ea typeface="Sarabun"/>
                <a:cs typeface="Sarabun"/>
              </a:rPr>
              <a:t>READ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920240"/>
            <a:ext cx="1527048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91712"/>
                </a:solidFill>
                <a:latin typeface="Sarabun"/>
                <a:ea typeface="Sarabun"/>
                <a:cs typeface="Sarabun"/>
              </a:rPr>
              <a:t>ถอดข้อความ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77440" y="1554480"/>
            <a:ext cx="178308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23744" y="1664208"/>
            <a:ext cx="1527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9A59A"/>
                </a:solidFill>
                <a:latin typeface="Inter"/>
                <a:ea typeface="Sarabun"/>
                <a:cs typeface="Sarabun"/>
              </a:rPr>
              <a:t>CHUNK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23744" y="1920240"/>
            <a:ext cx="1527048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91712"/>
                </a:solidFill>
                <a:latin typeface="Sarabun"/>
                <a:ea typeface="Sarabun"/>
                <a:cs typeface="Sarabun"/>
              </a:rPr>
              <a:t>ตัดเป็นชิ้น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1554480"/>
            <a:ext cx="178308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43984" y="1664208"/>
            <a:ext cx="1527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9A59A"/>
                </a:solidFill>
                <a:latin typeface="Inter"/>
                <a:ea typeface="Sarabun"/>
                <a:cs typeface="Sarabun"/>
              </a:rPr>
              <a:t>EMBED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3984" y="1920240"/>
            <a:ext cx="1527048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91712"/>
                </a:solidFill>
                <a:latin typeface="Sarabun"/>
                <a:ea typeface="Sarabun"/>
                <a:cs typeface="Sarabun"/>
              </a:rPr>
              <a:t>bge-m3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554480"/>
            <a:ext cx="178308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64224" y="1664208"/>
            <a:ext cx="1527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9A59A"/>
                </a:solidFill>
                <a:latin typeface="Inter"/>
                <a:ea typeface="Sarabun"/>
                <a:cs typeface="Sarabun"/>
              </a:rPr>
              <a:t>STORE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4224" y="1920240"/>
            <a:ext cx="1527048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91712"/>
                </a:solidFill>
                <a:latin typeface="Sarabun"/>
                <a:ea typeface="Sarabun"/>
                <a:cs typeface="Sarabun"/>
              </a:rPr>
              <a:t>SQLite + FTS5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60" y="1554480"/>
            <a:ext cx="178308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84464" y="1664208"/>
            <a:ext cx="1527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9A59A"/>
                </a:solidFill>
                <a:latin typeface="Inter"/>
                <a:ea typeface="Sarabun"/>
                <a:cs typeface="Sarabun"/>
              </a:rPr>
              <a:t>SEARCH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4464" y="1920240"/>
            <a:ext cx="1527048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91712"/>
                </a:solidFill>
                <a:latin typeface="Sarabun"/>
                <a:ea typeface="Sarabun"/>
                <a:cs typeface="Sarabun"/>
              </a:rPr>
              <a:t>ลูกผสม RRF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00" y="1554480"/>
            <a:ext cx="178308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04704" y="1664208"/>
            <a:ext cx="1527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9A59A"/>
                </a:solidFill>
                <a:latin typeface="Inter"/>
                <a:ea typeface="Sarabun"/>
                <a:cs typeface="Sarabun"/>
              </a:rPr>
              <a:t>ANSWER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04704" y="1920240"/>
            <a:ext cx="1527048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91712"/>
                </a:solidFill>
                <a:latin typeface="Sarabun"/>
                <a:ea typeface="Sarabun"/>
                <a:cs typeface="Sarabun"/>
              </a:rPr>
              <a:t>ล่ามจากหลักฐาน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023360"/>
            <a:ext cx="11247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F6C63"/>
                </a:solidFill>
                <a:latin typeface="Sarabun"/>
                <a:ea typeface="Sarabun"/>
                <a:cs typeface="Sarabun"/>
              </a:rPr>
              <a:t>ทำไมไม่ใช้ Chroma: เครื่องเดียว ไฟล์เดียวพอ วัดแล้ว cosine ทั้งคลังที่ 50,000 ชิ้นใช้ 52ms — ถูกกว่าการเรียกโมเดลร้อยเท่า และได้ FTS5 ไตรแกรมสำหรับไทยที่ไม่มีวรรค
ทำไมไม่ใช้ MiniLM: คลังไทย+อังกฤษต้อง bge-m3 — nomic-embed-text คะแนนเรื่องตรงกับเรื่องมั่วทับกัน ตั้งเกณฑ์ปฏิเสธไม่ได้
minScore = 0.46 (วัดแล้ว)  ·  K=20  ·  lexical weight 0.6  ·  ไม่มีเกตหัวข้อด้วยโมเดลเล็ก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9A59A"/>
                </a:solidFill>
                <a:latin typeface="Inter"/>
                <a:ea typeface="Sarabun"/>
                <a:cs typeface="Sarabun"/>
              </a:rPr>
              <a:t>DR NON'S DIY RAG  ·  CHATBOT-AS-A-SELF-SERVICE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0116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A9A59A"/>
                </a:solidFill>
                <a:latin typeface="Inter"/>
                <a:ea typeface="Sarabun"/>
                <a:cs typeface="Sarabun"/>
              </a:rPr>
              <a:t>06 /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75488"/>
            <a:ext cx="11274552" cy="12700"/>
          </a:xfrm>
          <a:prstGeom prst="rect">
            <a:avLst/>
          </a:prstGeom>
          <a:solidFill>
            <a:srgbClr val="191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9A59A"/>
                </a:solidFill>
                <a:latin typeface="Inter"/>
                <a:ea typeface="Sarabun"/>
                <a:cs typeface="Sarabun"/>
              </a:rPr>
              <a:t>06  ·  RAG LOGIC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9A59A"/>
                </a:solidFill>
                <a:latin typeface="Sarabun"/>
                <a:ea typeface="Sarabun"/>
                <a:cs typeface="Sarabun"/>
              </a:rPr>
              <a:t>โฟลเดอร์คือสมอง  ·  ไลน์คือปาก  ·  โมเดลคือล่าม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65392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9A59A"/>
                </a:solidFill>
                <a:latin typeface="Inter"/>
                <a:ea typeface="Sarabun"/>
                <a:cs typeface="Sarabun"/>
              </a:rPr>
              <a:t>Axiom Design Core  ·  Editorial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91712"/>
                </a:solidFill>
                <a:latin typeface="Sarabun"/>
                <a:ea typeface="Sarabun"/>
                <a:cs typeface="Sarabun"/>
              </a:rPr>
              <a:t>คำตอบที่ดีต้องมีหลักฐาน ไม่ใช่แค่ฟังดูฉลาด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08760"/>
            <a:ext cx="365760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1618488"/>
            <a:ext cx="3401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9A59A"/>
                </a:solidFill>
                <a:latin typeface="Inter"/>
                <a:ea typeface="Sarabun"/>
                <a:cs typeface="Sarabun"/>
              </a:rPr>
              <a:t>คำถาม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874520"/>
            <a:ext cx="3401568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91712"/>
                </a:solidFill>
                <a:latin typeface="Sarabun"/>
                <a:ea typeface="Sarabun"/>
                <a:cs typeface="Sarabun"/>
              </a:rPr>
              <a:t>「เบิกค่าเดินทางต่างจังหวัดได้วันละเท่าไร」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508760"/>
            <a:ext cx="365760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43984" y="1618488"/>
            <a:ext cx="3401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9A59A"/>
                </a:solidFill>
                <a:latin typeface="Inter"/>
                <a:ea typeface="Sarabun"/>
                <a:cs typeface="Sarabun"/>
              </a:rPr>
              <a:t>หลักฐาน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43984" y="1874520"/>
            <a:ext cx="3401568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91712"/>
                </a:solidFill>
                <a:latin typeface="Sarabun"/>
                <a:ea typeface="Sarabun"/>
                <a:cs typeface="Sarabun"/>
              </a:rPr>
              <a:t>ระเบียบค่าเดินทาง_2569.pdf หน้า 14
FAQ_การเงิน.xlsx แถว 27
ถ้าคะแนนต่ำกว่า 0.46 และไม่มีคำตรงตัวที่หายาก → หยุด ไม่ส่งให้โมเดล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508760"/>
            <a:ext cx="356616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4" y="1618488"/>
            <a:ext cx="33101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9A59A"/>
                </a:solidFill>
                <a:latin typeface="Inter"/>
                <a:ea typeface="Sarabun"/>
                <a:cs typeface="Sarabun"/>
              </a:rPr>
              <a:t>คำตอบ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1874520"/>
            <a:ext cx="3310128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322B"/>
                </a:solidFill>
                <a:latin typeface="Sarabun"/>
                <a:ea typeface="Sarabun"/>
                <a:cs typeface="Sarabun"/>
              </a:rPr>
              <a:t>ตอบเฉพาะสิ่งที่หลักฐานรองรับ
แนบชื่อไฟล์/หน้า
ถอด **มาร์กดาวน์**
ท้ายข้อความ: สร้างโดย AI อาจมีข้อผิดพลาด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9A59A"/>
                </a:solidFill>
                <a:latin typeface="Inter"/>
                <a:ea typeface="Sarabun"/>
                <a:cs typeface="Sarabun"/>
              </a:rPr>
              <a:t>DR NON'S DIY RAG  ·  CHATBOT-AS-A-SELF-SERVICE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0116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A9A59A"/>
                </a:solidFill>
                <a:latin typeface="Inter"/>
                <a:ea typeface="Sarabun"/>
                <a:cs typeface="Sarabun"/>
              </a:rPr>
              <a:t>07 /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75488"/>
            <a:ext cx="11274552" cy="12700"/>
          </a:xfrm>
          <a:prstGeom prst="rect">
            <a:avLst/>
          </a:prstGeom>
          <a:solidFill>
            <a:srgbClr val="191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9A59A"/>
                </a:solidFill>
                <a:latin typeface="Inter"/>
                <a:ea typeface="Sarabun"/>
                <a:cs typeface="Sarabun"/>
              </a:rPr>
              <a:t>07  ·  STEP 3  LINE OFFICIAL ACCOUNT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9A59A"/>
                </a:solidFill>
                <a:latin typeface="Sarabun"/>
                <a:ea typeface="Sarabun"/>
                <a:cs typeface="Sarabun"/>
              </a:rPr>
              <a:t>โฟลเดอร์คือสมอง  ·  ไลน์คือปาก  ·  โมเดลคือล่าม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65392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9A59A"/>
                </a:solidFill>
                <a:latin typeface="Inter"/>
                <a:ea typeface="Sarabun"/>
                <a:cs typeface="Sarabun"/>
              </a:rPr>
              <a:t>Axiom Design Core  ·  Editorial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686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91712"/>
                </a:solidFill>
                <a:latin typeface="Sarabun"/>
                <a:ea typeface="Sarabun"/>
                <a:cs typeface="Sarabun"/>
              </a:rPr>
              <a:t>สร้าง OA จากหน้าบัญชี — ไม่ใช่จาก Developers Console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55448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 i="0">
                <a:solidFill>
                  <a:srgbClr val="191712"/>
                </a:solidFill>
                <a:latin typeface="Sarabun"/>
                <a:ea typeface="Sarabun"/>
                <a:cs typeface="Sarabun"/>
              </a:rPr>
              <a:t>1  Business ID  —  account.line.biz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191712"/>
                </a:solidFill>
                <a:latin typeface="Sarabun"/>
                <a:ea typeface="Sarabun"/>
                <a:cs typeface="Sarabun"/>
              </a:rPr>
              <a:t>2  สร้าง Official Account  —  manager.line.biz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191712"/>
                </a:solidFill>
                <a:latin typeface="Sarabun"/>
                <a:ea typeface="Sarabun"/>
                <a:cs typeface="Sarabun"/>
              </a:rPr>
              <a:t>3  ตั้งค่า → Messaging API → Enable Messaging API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191712"/>
                </a:solidFill>
                <a:latin typeface="Sarabun"/>
                <a:ea typeface="Sarabun"/>
                <a:cs typeface="Sarabun"/>
              </a:rPr>
              <a:t>4  เลือก Provider ให้ถูก  ย้ายทีหลังไม่ได้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191712"/>
                </a:solidFill>
                <a:latin typeface="Sarabun"/>
                <a:ea typeface="Sarabun"/>
                <a:cs typeface="Sarabun"/>
              </a:rPr>
              <a:t>5  ไป developers.line.biz/console ตรวจว่าชาแนลถูกสร้างแล้ว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191712"/>
                </a:solidFill>
                <a:latin typeface="Sarabun"/>
                <a:ea typeface="Sarabun"/>
                <a:cs typeface="Sarabun"/>
              </a:rPr>
              <a:t>ตั้งแต่วันที่ 4 ก.ย. 2024 สร้าง Messaging API channel ตรงใน Console ไม่ได้อีกแล้ว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191712"/>
                </a:solidFill>
                <a:latin typeface="Sarabun"/>
                <a:ea typeface="Sarabun"/>
                <a:cs typeface="Sarabun"/>
              </a:rPr>
              <a:t>รายละเอียดปุ่มทีละคลิก: START-HERE.md สถานี 3–7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9A59A"/>
                </a:solidFill>
                <a:latin typeface="Inter"/>
                <a:ea typeface="Sarabun"/>
                <a:cs typeface="Sarabun"/>
              </a:rPr>
              <a:t>DR NON'S DIY RAG  ·  CHATBOT-AS-A-SELF-SERVICE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0116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A9A59A"/>
                </a:solidFill>
                <a:latin typeface="Inter"/>
                <a:ea typeface="Sarabun"/>
                <a:cs typeface="Sarabun"/>
              </a:rPr>
              <a:t>08 /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75488"/>
            <a:ext cx="11274552" cy="12700"/>
          </a:xfrm>
          <a:prstGeom prst="rect">
            <a:avLst/>
          </a:prstGeom>
          <a:solidFill>
            <a:srgbClr val="191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9A59A"/>
                </a:solidFill>
                <a:latin typeface="Inter"/>
                <a:ea typeface="Sarabun"/>
                <a:cs typeface="Sarabun"/>
              </a:rPr>
              <a:t>08  ·  LINE SETTINGS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9A59A"/>
                </a:solidFill>
                <a:latin typeface="Sarabun"/>
                <a:ea typeface="Sarabun"/>
                <a:cs typeface="Sarabun"/>
              </a:rPr>
              <a:t>โฟลเดอร์คือสมอง  ·  ไลน์คือปาก  ·  โมเดลคือล่าม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65392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9A59A"/>
                </a:solidFill>
                <a:latin typeface="Inter"/>
                <a:ea typeface="Sarabun"/>
                <a:cs typeface="Sarabun"/>
              </a:rPr>
              <a:t>Axiom Design Core  ·  Editorial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91712"/>
                </a:solidFill>
                <a:latin typeface="Sarabun"/>
                <a:ea typeface="Sarabun"/>
                <a:cs typeface="Sarabun"/>
              </a:rPr>
              <a:t>สองคีย์ คนละหน้าที่ — เก็บใน .env ห้ามขึ้น Git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557784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1572768"/>
            <a:ext cx="5321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9A59A"/>
                </a:solidFill>
                <a:latin typeface="Inter"/>
                <a:ea typeface="Sarabun"/>
                <a:cs typeface="Sarabun"/>
              </a:rPr>
              <a:t>LINE_CHANNEL_SECRET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828800"/>
            <a:ext cx="532180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91712"/>
                </a:solidFill>
                <a:latin typeface="Sarabun"/>
                <a:ea typeface="Sarabun"/>
                <a:cs typeface="Sarabun"/>
              </a:rPr>
              <a:t>ตรวจหัวข้อ x-line-signature ด้วย HMAC-SHA256 ของ raw body
ลายเซ็นผิด = 401 ไม่ประมวลผล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463040"/>
            <a:ext cx="548640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4224" y="1572768"/>
            <a:ext cx="5230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9A59A"/>
                </a:solidFill>
                <a:latin typeface="Inter"/>
                <a:ea typeface="Sarabun"/>
                <a:cs typeface="Sarabun"/>
              </a:rPr>
              <a:t>LINE_CHANNEL_ACCESS_TOKEN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1828800"/>
            <a:ext cx="523036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91712"/>
                </a:solidFill>
                <a:latin typeface="Sarabun"/>
                <a:ea typeface="Sarabun"/>
                <a:cs typeface="Sarabun"/>
              </a:rPr>
              <a:t>ให้เครื่องเรียก Messaging API
LINE แนะนำ token แบบกำหนดวันหมดอายุ (v2.1)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657600"/>
            <a:ext cx="557784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" y="3767328"/>
            <a:ext cx="5321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9A59A"/>
                </a:solidFill>
                <a:latin typeface="Inter"/>
                <a:ea typeface="Sarabun"/>
                <a:cs typeface="Sarabun"/>
              </a:rPr>
              <a:t>Webhook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" y="4023360"/>
            <a:ext cx="5321808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91712"/>
                </a:solidFill>
                <a:latin typeface="Sarabun"/>
                <a:ea typeface="Sarabun"/>
                <a:cs typeface="Sarabun"/>
              </a:rPr>
              <a:t>ต้องเป็น HTTPS ใบรับรองที่เบราว์เซอร์เชื่อถือ
Use webhook เปิดหลัง Verify สำเร็จ
เอเจนต์ห้ามขอให้วางคีย์ลงแชต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657600"/>
            <a:ext cx="54864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64224" y="3767328"/>
            <a:ext cx="5230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9A59A"/>
                </a:solidFill>
                <a:latin typeface="Inter"/>
                <a:ea typeface="Sarabun"/>
                <a:cs typeface="Sarabun"/>
              </a:rPr>
              <a:t>OA Manager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4224" y="4023360"/>
            <a:ext cx="5230368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91712"/>
                </a:solidFill>
                <a:latin typeface="Sarabun"/>
                <a:ea typeface="Sarabun"/>
                <a:cs typeface="Sarabun"/>
              </a:rPr>
              <a:t>ปิดข้อความทักทาย
ปิดตอบกลับอัตโนมัติ
ไม่งั้นลูกค้าได้คำตอบซ้ำสองรอบ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9A59A"/>
                </a:solidFill>
                <a:latin typeface="Inter"/>
                <a:ea typeface="Sarabun"/>
                <a:cs typeface="Sarabun"/>
              </a:rPr>
              <a:t>DR NON'S DIY RAG  ·  CHATBOT-AS-A-SELF-SERVICE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0116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A9A59A"/>
                </a:solidFill>
                <a:latin typeface="Inter"/>
                <a:ea typeface="Sarabun"/>
                <a:cs typeface="Sarabun"/>
              </a:rPr>
              <a:t>09 /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75488"/>
            <a:ext cx="11274552" cy="12700"/>
          </a:xfrm>
          <a:prstGeom prst="rect">
            <a:avLst/>
          </a:prstGeom>
          <a:solidFill>
            <a:srgbClr val="191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9A59A"/>
                </a:solidFill>
                <a:latin typeface="Inter"/>
                <a:ea typeface="Sarabun"/>
                <a:cs typeface="Sarabun"/>
              </a:rPr>
              <a:t>09  ·  STEP 4  THE AGENT BUILDS THE MACHINE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9A59A"/>
                </a:solidFill>
                <a:latin typeface="Sarabun"/>
                <a:ea typeface="Sarabun"/>
                <a:cs typeface="Sarabun"/>
              </a:rPr>
              <a:t>โฟลเดอร์คือสมอง  ·  ไลน์คือปาก  ·  โมเดลคือล่าม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65392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9A59A"/>
                </a:solidFill>
                <a:latin typeface="Inter"/>
                <a:ea typeface="Sarabun"/>
                <a:cs typeface="Sarabun"/>
              </a:rPr>
              <a:t>Axiom Design Core  ·  Editorial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91712"/>
                </a:solidFill>
                <a:latin typeface="Sarabun"/>
                <a:ea typeface="Sarabun"/>
                <a:cs typeface="Sarabun"/>
              </a:rPr>
              <a:t>เอเจนต์สร้างเครื่อง — ไม่ได้เป็นเครื่อง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08760"/>
            <a:ext cx="557784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1618488"/>
            <a:ext cx="5321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9A59A"/>
                </a:solidFill>
                <a:latin typeface="Inter"/>
                <a:ea typeface="Sarabun"/>
                <a:cs typeface="Sarabun"/>
              </a:rPr>
              <a:t>ทางลัด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874520"/>
            <a:ext cx="5321808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91712"/>
                </a:solidFill>
                <a:latin typeface="Sarabun"/>
                <a:ea typeface="Sarabun"/>
                <a:cs typeface="Sarabun"/>
              </a:rPr>
              <a:t>git clone https://github.com/Nonarkara/diy-rag-chatbot.git
cd diy-rag-chatbot
แล้วบอกเอเจนต์:
「อ่าน AGENTS.md กับ START-HERE.md แล้วพาฉันทำทีละขั้น」
อย่า mkdir โฟลเดอร์ว่างถ้าชุดนี้มีอยู่แล้ว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508760"/>
            <a:ext cx="548640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4224" y="1618488"/>
            <a:ext cx="5230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9A59A"/>
                </a:solidFill>
                <a:latin typeface="Inter"/>
                <a:ea typeface="Sarabun"/>
                <a:cs typeface="Sarabun"/>
              </a:rPr>
              <a:t>เส้นแบ่ง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1874520"/>
            <a:ext cx="5230368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91712"/>
                </a:solidFill>
                <a:latin typeface="Sarabun"/>
                <a:ea typeface="Sarabun"/>
                <a:cs typeface="Sarabun"/>
              </a:rPr>
              <a:t>Claude Code / Cursor = สร้างและซ่อมโค้ด
Python บนเครื่องคุณ = สิ่งที่ออนไลน์ 24/7 และคุยกับ LINE
ถ้ายังไม่มีเครื่องในโฟลเดอร์นี้ ให้เอเจนต์อ่าน LINE_RAG_Claude_Code_Master_Prompt.md แล้ว build → test → fix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9A59A"/>
                </a:solidFill>
                <a:latin typeface="Inter"/>
                <a:ea typeface="Sarabun"/>
                <a:cs typeface="Sarabun"/>
              </a:rPr>
              <a:t>DR NON'S DIY RAG  ·  CHATBOT-AS-A-SELF-SERVICE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0116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A9A59A"/>
                </a:solidFill>
                <a:latin typeface="Inter"/>
                <a:ea typeface="Sarabun"/>
                <a:cs typeface="Sarabun"/>
              </a:rPr>
              <a:t>10 /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75488"/>
            <a:ext cx="11274552" cy="12700"/>
          </a:xfrm>
          <a:prstGeom prst="rect">
            <a:avLst/>
          </a:prstGeom>
          <a:solidFill>
            <a:srgbClr val="191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9A59A"/>
                </a:solidFill>
                <a:latin typeface="Inter"/>
                <a:ea typeface="Sarabun"/>
                <a:cs typeface="Sarabun"/>
              </a:rPr>
              <a:t>10  ·  AGENT BRIEF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9A59A"/>
                </a:solidFill>
                <a:latin typeface="Sarabun"/>
                <a:ea typeface="Sarabun"/>
                <a:cs typeface="Sarabun"/>
              </a:rPr>
              <a:t>โฟลเดอร์คือสมอง  ·  ไลน์คือปาก  ·  โมเดลคือล่าม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65392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9A59A"/>
                </a:solidFill>
                <a:latin typeface="Inter"/>
                <a:ea typeface="Sarabun"/>
                <a:cs typeface="Sarabun"/>
              </a:rPr>
              <a:t>Axiom Design Core  ·  Editorial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91712"/>
                </a:solidFill>
                <a:latin typeface="Sarabun"/>
                <a:ea typeface="Sarabun"/>
                <a:cs typeface="Sarabun"/>
              </a:rPr>
              <a:t>บอกเอเจนต์ด้วยเกณฑ์ผ่าน ไม่ใช่แค่ว่าอยากได้บอท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 i="0">
                <a:solidFill>
                  <a:srgbClr val="191712"/>
                </a:solidFill>
                <a:latin typeface="Sarabun"/>
                <a:ea typeface="Sarabun"/>
                <a:cs typeface="Sarabun"/>
              </a:rPr>
              <a:t>01  สแกน ./knowledge แบบซ้อนโฟลเดอร์ + แฮชไฟล์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191712"/>
                </a:solidFill>
                <a:latin typeface="Sarabun"/>
                <a:ea typeface="Sarabun"/>
                <a:cs typeface="Sarabun"/>
              </a:rPr>
              <a:t>02  bge-m3 + SQLite ลูกผสม  ไม่ใช่ Chroma / MiniLM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191712"/>
                </a:solidFill>
                <a:latin typeface="Sarabun"/>
                <a:ea typeface="Sarabun"/>
                <a:cs typeface="Sarabun"/>
              </a:rPr>
              <a:t>03  POST /webhook ตรวจลายเซ็นก่อน  ตอบ 200 แล้วค่อยค้นพื้นหลัง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191712"/>
                </a:solidFill>
                <a:latin typeface="Sarabun"/>
                <a:ea typeface="Sarabun"/>
                <a:cs typeface="Sarabun"/>
              </a:rPr>
              <a:t>04  คำตอบ RAG ส่งด้วย Push  Reply ใช้ได้แค่คำสั่งทันที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191712"/>
                </a:solidFill>
                <a:latin typeface="Sarabun"/>
                <a:ea typeface="Sarabun"/>
                <a:cs typeface="Sarabun"/>
              </a:rPr>
              <a:t>05  ไม่มีหลักฐาน = ปฏิเสธภาษาคนใช้ + ช่องทางคน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191712"/>
                </a:solidFill>
                <a:latin typeface="Sarabun"/>
                <a:ea typeface="Sarabun"/>
                <a:cs typeface="Sarabun"/>
              </a:rPr>
              <a:t>06  ถอดมาร์กดาวน์  คำเตือน AI  /privacy /forget /about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191712"/>
                </a:solidFill>
                <a:latin typeface="Sarabun"/>
                <a:ea typeface="Sarabun"/>
                <a:cs typeface="Sarabun"/>
              </a:rPr>
              <a:t>07  หน้า /admin + START.command/START.bat + เทสอัตโนมัติ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191712"/>
                </a:solidFill>
                <a:latin typeface="Sarabun"/>
                <a:ea typeface="Sarabun"/>
                <a:cs typeface="Sarabun"/>
              </a:rPr>
              <a:t>08  cloudflared ชี้ http://127.0.0.1:8000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9A59A"/>
                </a:solidFill>
                <a:latin typeface="Inter"/>
                <a:ea typeface="Sarabun"/>
                <a:cs typeface="Sarabun"/>
              </a:rPr>
              <a:t>DR NON'S DIY RAG  ·  CHATBOT-AS-A-SELF-SERVICE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0116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A9A59A"/>
                </a:solidFill>
                <a:latin typeface="Inter"/>
                <a:ea typeface="Sarabun"/>
                <a:cs typeface="Sarabun"/>
              </a:rPr>
              <a:t>11 /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75488"/>
            <a:ext cx="11274552" cy="12700"/>
          </a:xfrm>
          <a:prstGeom prst="rect">
            <a:avLst/>
          </a:prstGeom>
          <a:solidFill>
            <a:srgbClr val="191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9A59A"/>
                </a:solidFill>
                <a:latin typeface="Inter"/>
                <a:ea typeface="Sarabun"/>
                <a:cs typeface="Sarabun"/>
              </a:rPr>
              <a:t>11  ·  STEP 5  HTTPS FOR 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9A59A"/>
                </a:solidFill>
                <a:latin typeface="Sarabun"/>
                <a:ea typeface="Sarabun"/>
                <a:cs typeface="Sarabun"/>
              </a:rPr>
              <a:t>โฟลเดอร์คือสมอง  ·  ไลน์คือปาก  ·  โมเดลคือล่าม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65392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9A59A"/>
                </a:solidFill>
                <a:latin typeface="Inter"/>
                <a:ea typeface="Sarabun"/>
                <a:cs typeface="Sarabun"/>
              </a:rPr>
              <a:t>Axiom Design Core  ·  Editorial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91712"/>
                </a:solidFill>
                <a:latin typeface="Sarabun"/>
                <a:ea typeface="Sarabun"/>
                <a:cs typeface="Sarabun"/>
              </a:rPr>
              <a:t>ให้ localhost กลายเป็น HTTPS โดยไม่เปิดพอร์ทเราเตอร์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08760"/>
            <a:ext cx="356616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1618488"/>
            <a:ext cx="33101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9A59A"/>
                </a:solidFill>
                <a:latin typeface="Inter"/>
                <a:ea typeface="Sarabun"/>
                <a:cs typeface="Sarabun"/>
              </a:rPr>
              <a:t>เครื่องคุณ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874520"/>
            <a:ext cx="3310128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91712"/>
                </a:solidFill>
                <a:latin typeface="Sarabun"/>
                <a:ea typeface="Sarabun"/>
                <a:cs typeface="Sarabun"/>
              </a:rPr>
              <a:t>127.0.0.1:8000
ห้ามพิมพ์ localhost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508760"/>
            <a:ext cx="356616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43984" y="1618488"/>
            <a:ext cx="33101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9A59A"/>
                </a:solidFill>
                <a:latin typeface="Inter"/>
                <a:ea typeface="Sarabun"/>
                <a:cs typeface="Sarabun"/>
              </a:rPr>
              <a:t>Cloudflare Tunnel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43984" y="1874520"/>
            <a:ext cx="3310128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91712"/>
                </a:solidFill>
                <a:latin typeface="Sarabun"/>
                <a:ea typeface="Sarabun"/>
                <a:cs typeface="Sarabun"/>
              </a:rPr>
              <a:t>https://xxxxx.trycloudflare.com
เชื่อมออกจากเครื่อง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508760"/>
            <a:ext cx="356616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4" y="1618488"/>
            <a:ext cx="33101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9A59A"/>
                </a:solidFill>
                <a:latin typeface="Inter"/>
                <a:ea typeface="Sarabun"/>
                <a:cs typeface="Sarabun"/>
              </a:rPr>
              <a:t>LINE webhook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1874520"/>
            <a:ext cx="3310128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91712"/>
                </a:solidFill>
                <a:latin typeface="Sarabun"/>
                <a:ea typeface="Sarabun"/>
                <a:cs typeface="Sarabun"/>
              </a:rPr>
              <a:t>POST /webhook
Verify แล้วค่อยเปิด Use webhook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8322B"/>
                </a:solidFill>
                <a:latin typeface="Sarabun"/>
                <a:ea typeface="Sarabun"/>
                <a:cs typeface="Sarabun"/>
              </a:rPr>
              <a:t>cloudflared tunnel --url http://127.0.0.1:8000
Quick Tunnel = ทดลอง  ชื่อสุ่มตายเมื่อปิด   Named Tunnel / VPS = งานจริง
คอมพิวเตอร์ปิด = บอทตาย  นี่คือสถาปัตยกรรม ไม่ใช่บั๊ก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9A59A"/>
                </a:solidFill>
                <a:latin typeface="Inter"/>
                <a:ea typeface="Sarabun"/>
                <a:cs typeface="Sarabun"/>
              </a:rPr>
              <a:t>DR NON'S DIY RAG  ·  CHATBOT-AS-A-SELF-SERVICE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0116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A9A59A"/>
                </a:solidFill>
                <a:latin typeface="Inter"/>
                <a:ea typeface="Sarabun"/>
                <a:cs typeface="Sarabun"/>
              </a:rPr>
              <a:t>12 /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75488"/>
            <a:ext cx="11274552" cy="12700"/>
          </a:xfrm>
          <a:prstGeom prst="rect">
            <a:avLst/>
          </a:prstGeom>
          <a:solidFill>
            <a:srgbClr val="191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9A59A"/>
                </a:solidFill>
                <a:latin typeface="Inter"/>
                <a:ea typeface="Sarabun"/>
                <a:cs typeface="Sarabun"/>
              </a:rPr>
              <a:t>12  ·  STEP 6  THE PATH OF ONE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9A59A"/>
                </a:solidFill>
                <a:latin typeface="Sarabun"/>
                <a:ea typeface="Sarabun"/>
                <a:cs typeface="Sarabun"/>
              </a:rPr>
              <a:t>โฟลเดอร์คือสมอง  ·  ไลน์คือปาก  ·  โมเดลคือล่าม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65392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9A59A"/>
                </a:solidFill>
                <a:latin typeface="Inter"/>
                <a:ea typeface="Sarabun"/>
                <a:cs typeface="Sarabun"/>
              </a:rPr>
              <a:t>Axiom Design Core  ·  Editorial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91712"/>
                </a:solidFill>
                <a:latin typeface="Sarabun"/>
                <a:ea typeface="Sarabun"/>
                <a:cs typeface="Sarabun"/>
              </a:rPr>
              <a:t>ทุกขั้นต้องมีเจ้าของ — โมเดลห้ามเดาเอง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1732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 i="0">
                <a:solidFill>
                  <a:srgbClr val="191712"/>
                </a:solidFill>
                <a:latin typeface="Sarabun"/>
                <a:ea typeface="Sarabun"/>
                <a:cs typeface="Sarabun"/>
              </a:rPr>
              <a:t>1  LINE ส่ง POST + ลายเซ็น  (replyToken มีอายุสั้น)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191712"/>
                </a:solidFill>
                <a:latin typeface="Sarabun"/>
                <a:ea typeface="Sarabun"/>
                <a:cs typeface="Sarabun"/>
              </a:rPr>
              <a:t>2  ตรวจลายเซ็น  ไม่ผ่าน → 401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191712"/>
                </a:solidFill>
                <a:latin typeface="Sarabun"/>
                <a:ea typeface="Sarabun"/>
                <a:cs typeface="Sarabun"/>
              </a:rPr>
              <a:t>3  ตอบ 200 ทันที  ไปค้นพื้นหลัง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191712"/>
                </a:solidFill>
                <a:latin typeface="Sarabun"/>
                <a:ea typeface="Sarabun"/>
                <a:cs typeface="Sarabun"/>
              </a:rPr>
              <a:t>4  ฝังคำถามด้วย bge-m3  ค้นลูกผสม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191712"/>
                </a:solidFill>
                <a:latin typeface="Sarabun"/>
                <a:ea typeface="Sarabun"/>
                <a:cs typeface="Sarabun"/>
              </a:rPr>
              <a:t>5  ไม่มีหลักฐาน → ปฏิเสธในภาษาคนใช้ + มืออาชีพ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191712"/>
                </a:solidFill>
                <a:latin typeface="Sarabun"/>
                <a:ea typeface="Sarabun"/>
                <a:cs typeface="Sarabun"/>
              </a:rPr>
              <a:t>6  มีหลักฐาน → โมเดลสรุป  ถอดมาร์กดาวน์  คำเตือน AI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191712"/>
                </a:solidFill>
                <a:latin typeface="Sarabun"/>
                <a:ea typeface="Sarabun"/>
                <a:cs typeface="Sarabun"/>
              </a:rPr>
              <a:t>7  ส่งกลับด้วย Push  ไม่ใช้ replyToken ของงานที่ช้า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191712"/>
                </a:solidFill>
                <a:latin typeface="Sarabun"/>
                <a:ea typeface="Sarabun"/>
                <a:cs typeface="Sarabun"/>
              </a:rPr>
              <a:t>8  ผิดพลาด → คำขอโทษสองภาษา  ห้ามเงียบ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9A59A"/>
                </a:solidFill>
                <a:latin typeface="Inter"/>
                <a:ea typeface="Sarabun"/>
                <a:cs typeface="Sarabun"/>
              </a:rPr>
              <a:t>DR NON'S DIY RAG  ·  CHATBOT-AS-A-SELF-SERVICE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0116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A9A59A"/>
                </a:solidFill>
                <a:latin typeface="Inter"/>
                <a:ea typeface="Sarabun"/>
                <a:cs typeface="Sarabun"/>
              </a:rPr>
              <a:t>13 /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75488"/>
            <a:ext cx="11274552" cy="12700"/>
          </a:xfrm>
          <a:prstGeom prst="rect">
            <a:avLst/>
          </a:prstGeom>
          <a:solidFill>
            <a:srgbClr val="191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9A59A"/>
                </a:solidFill>
                <a:latin typeface="Inter"/>
                <a:ea typeface="Sarabun"/>
                <a:cs typeface="Sarabun"/>
              </a:rPr>
              <a:t>13  ·  ACCEPTANCE TESTS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9A59A"/>
                </a:solidFill>
                <a:latin typeface="Sarabun"/>
                <a:ea typeface="Sarabun"/>
                <a:cs typeface="Sarabun"/>
              </a:rPr>
              <a:t>โฟลเดอร์คือสมอง  ·  ไลน์คือปาก  ·  โมเดลคือล่าม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65392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9A59A"/>
                </a:solidFill>
                <a:latin typeface="Inter"/>
                <a:ea typeface="Sarabun"/>
                <a:cs typeface="Sarabun"/>
              </a:rPr>
              <a:t>Axiom Design Core  ·  Editorial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91712"/>
                </a:solidFill>
                <a:latin typeface="Sarabun"/>
                <a:ea typeface="Sarabun"/>
                <a:cs typeface="Sarabun"/>
              </a:rPr>
              <a:t>ก่อนบอกว่าออนไลน์ ต้องผ่านชุดนี้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1732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 i="0">
                <a:solidFill>
                  <a:srgbClr val="191712"/>
                </a:solidFill>
                <a:latin typeface="Sarabun"/>
                <a:ea typeface="Sarabun"/>
                <a:cs typeface="Sarabun"/>
              </a:rPr>
              <a:t>01  KNOWN ANSWER — ถามเรื่องใน PDF ได้คำตอบ + ชื่อไฟล์/หน้า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191712"/>
                </a:solidFill>
                <a:latin typeface="Sarabun"/>
                <a:ea typeface="Sarabun"/>
                <a:cs typeface="Sarabun"/>
              </a:rPr>
              <a:t>02  UNKNOWN ANSWER — ปฏิเสธสุภาพ ไม่แต่ง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191712"/>
                </a:solidFill>
                <a:latin typeface="Sarabun"/>
                <a:ea typeface="Sarabun"/>
                <a:cs typeface="Sarabun"/>
              </a:rPr>
              <a:t>03  FILE UPDATE — แกไฟล์แล้วดัชนีเฉพาะไฟล์นั้น คำตอบเปลี่ยนตาม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191712"/>
                </a:solidFill>
                <a:latin typeface="Sarabun"/>
                <a:ea typeface="Sarabun"/>
                <a:cs typeface="Sarabun"/>
              </a:rPr>
              <a:t>04  BAD SIGNATURE — webhook ปลอมถูกปฏิเสธ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191712"/>
                </a:solidFill>
                <a:latin typeface="Sarabun"/>
                <a:ea typeface="Sarabun"/>
                <a:cs typeface="Sarabun"/>
              </a:rPr>
              <a:t>05  DUPLICATE — webhookEventId ซ้ำไม่ตอบซ้ำ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191712"/>
                </a:solidFill>
                <a:latin typeface="Sarabun"/>
                <a:ea typeface="Sarabun"/>
                <a:cs typeface="Sarabun"/>
              </a:rPr>
              <a:t>06  RESTART — เปิดใหม่แล้วดัชนีเดิมยังอยู่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191712"/>
                </a:solidFill>
                <a:latin typeface="Sarabun"/>
                <a:ea typeface="Sarabun"/>
                <a:cs typeface="Sarabun"/>
              </a:rPr>
              <a:t>07  THAI — คำถามไทยไปถึงชิ้นภาษาไทยที่ถูก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191712"/>
                </a:solidFill>
                <a:latin typeface="Sarabun"/>
                <a:ea typeface="Sarabun"/>
                <a:cs typeface="Sarabun"/>
              </a:rPr>
              <a:t>คนใหม่เพิ่มเพื่อน → พิมพ์คำถามได้คำตอบจากเอกสารโดยไม่ต้องเปิดเทอร์มินัล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9A59A"/>
                </a:solidFill>
                <a:latin typeface="Inter"/>
                <a:ea typeface="Sarabun"/>
                <a:cs typeface="Sarabun"/>
              </a:rPr>
              <a:t>DR NON'S DIY RAG  ·  CHATBOT-AS-A-SELF-SERVICE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0116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A9A59A"/>
                </a:solidFill>
                <a:latin typeface="Inter"/>
                <a:ea typeface="Sarabun"/>
                <a:cs typeface="Sarabun"/>
              </a:rPr>
              <a:t>14 /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75488"/>
            <a:ext cx="11274552" cy="12700"/>
          </a:xfrm>
          <a:prstGeom prst="rect">
            <a:avLst/>
          </a:prstGeom>
          <a:solidFill>
            <a:srgbClr val="191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9A59A"/>
                </a:solidFill>
                <a:latin typeface="Inter"/>
                <a:ea typeface="Sarabun"/>
                <a:cs typeface="Sarabun"/>
              </a:rPr>
              <a:t>14  ·  SECURITY &amp; PRIVACY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9A59A"/>
                </a:solidFill>
                <a:latin typeface="Sarabun"/>
                <a:ea typeface="Sarabun"/>
                <a:cs typeface="Sarabun"/>
              </a:rPr>
              <a:t>โฟลเดอร์คือสมอง  ·  ไลน์คือปาก  ·  โมเดลคือล่าม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65392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9A59A"/>
                </a:solidFill>
                <a:latin typeface="Inter"/>
                <a:ea typeface="Sarabun"/>
                <a:cs typeface="Sarabun"/>
              </a:rPr>
              <a:t>Axiom Design Core  ·  Editorial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91712"/>
                </a:solidFill>
                <a:latin typeface="Sarabun"/>
                <a:ea typeface="Sarabun"/>
                <a:cs typeface="Sarabun"/>
              </a:rPr>
              <a:t>ของง่ายไม่ควรเป็นของหลวม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365760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1572768"/>
            <a:ext cx="3401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9A59A"/>
                </a:solidFill>
                <a:latin typeface="Inter"/>
                <a:ea typeface="Sarabun"/>
                <a:cs typeface="Sarabun"/>
              </a:rPr>
              <a:t>SECRETS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828800"/>
            <a:ext cx="340156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91712"/>
                </a:solidFill>
                <a:latin typeface="Sarabun"/>
                <a:ea typeface="Sarabun"/>
                <a:cs typeface="Sarabun"/>
              </a:rPr>
              <a:t>.env + .gitignore  ห้ามคีย์ในซอร์สหรือประวัติ Git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463040"/>
            <a:ext cx="365760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43984" y="1572768"/>
            <a:ext cx="3401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9A59A"/>
                </a:solidFill>
                <a:latin typeface="Inter"/>
                <a:ea typeface="Sarabun"/>
                <a:cs typeface="Sarabun"/>
              </a:rPr>
              <a:t>WEBHOOK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43984" y="1828800"/>
            <a:ext cx="340156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91712"/>
                </a:solidFill>
                <a:latin typeface="Sarabun"/>
                <a:ea typeface="Sarabun"/>
                <a:cs typeface="Sarabun"/>
              </a:rPr>
              <a:t>ทุก POST จากเน็ตไม่น่าเชื่อถือจนกว่าจะตรวจลายเซ็น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463040"/>
            <a:ext cx="365760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4" y="1572768"/>
            <a:ext cx="3401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9A59A"/>
                </a:solidFill>
                <a:latin typeface="Inter"/>
                <a:ea typeface="Sarabun"/>
                <a:cs typeface="Sarabun"/>
              </a:rPr>
              <a:t>RAG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1828800"/>
            <a:ext cx="340156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91712"/>
                </a:solidFill>
                <a:latin typeface="Sarabun"/>
                <a:ea typeface="Sarabun"/>
                <a:cs typeface="Sarabun"/>
              </a:rPr>
              <a:t>ส่งเฉพาะชิ้นที่ค้นได้  ไม่เคยอัปโหลดทั้งโฟลเดอร์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657600"/>
            <a:ext cx="365760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504" y="3767328"/>
            <a:ext cx="3401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9A59A"/>
                </a:solidFill>
                <a:latin typeface="Inter"/>
                <a:ea typeface="Sarabun"/>
                <a:cs typeface="Sarabun"/>
              </a:rPr>
              <a:t>DISCLOSE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" y="4023360"/>
            <a:ext cx="340156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91712"/>
                </a:solidFill>
                <a:latin typeface="Sarabun"/>
                <a:ea typeface="Sarabun"/>
                <a:cs typeface="Sarabun"/>
              </a:rPr>
              <a:t>/about ตอนเพิ่มเพื่อน   /privacy  /forget ทันที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80" y="3657600"/>
            <a:ext cx="365760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43984" y="3767328"/>
            <a:ext cx="3401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9A59A"/>
                </a:solidFill>
                <a:latin typeface="Inter"/>
                <a:ea typeface="Sarabun"/>
                <a:cs typeface="Sarabun"/>
              </a:rPr>
              <a:t>BACKUP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43984" y="4023360"/>
            <a:ext cx="340156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91712"/>
                </a:solidFill>
                <a:latin typeface="Sarabun"/>
                <a:ea typeface="Sarabun"/>
                <a:cs typeface="Sarabun"/>
              </a:rPr>
              <a:t>เอกสารต้นทางคือความจริง  ดัชนีพังแล้วสร้างใหม่ได้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3657600"/>
            <a:ext cx="365760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84464" y="3767328"/>
            <a:ext cx="3401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9A59A"/>
                </a:solidFill>
                <a:latin typeface="Inter"/>
                <a:ea typeface="Sarabun"/>
                <a:cs typeface="Sarabun"/>
              </a:rPr>
              <a:t>LOCAL ≠ OFFLINE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4464" y="4023360"/>
            <a:ext cx="340156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91712"/>
                </a:solidFill>
                <a:latin typeface="Sarabun"/>
                <a:ea typeface="Sarabun"/>
                <a:cs typeface="Sarabun"/>
              </a:rPr>
              <a:t>แชตยังเดินทางผ่าน LINE  แม้โมเดลอยู่บนเครื่องนี้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9A59A"/>
                </a:solidFill>
                <a:latin typeface="Inter"/>
                <a:ea typeface="Sarabun"/>
                <a:cs typeface="Sarabun"/>
              </a:rPr>
              <a:t>DR NON'S DIY RAG  ·  CHATBOT-AS-A-SELF-SERVICE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0116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A9A59A"/>
                </a:solidFill>
                <a:latin typeface="Inter"/>
                <a:ea typeface="Sarabun"/>
                <a:cs typeface="Sarabun"/>
              </a:rPr>
              <a:t>15 /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75488"/>
            <a:ext cx="11274552" cy="12700"/>
          </a:xfrm>
          <a:prstGeom prst="rect">
            <a:avLst/>
          </a:prstGeom>
          <a:solidFill>
            <a:srgbClr val="191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9A59A"/>
                </a:solidFill>
                <a:latin typeface="Inter"/>
                <a:ea typeface="Sarabun"/>
                <a:cs typeface="Sarabun"/>
              </a:rPr>
              <a:t>15  · 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9A59A"/>
                </a:solidFill>
                <a:latin typeface="Sarabun"/>
                <a:ea typeface="Sarabun"/>
                <a:cs typeface="Sarabun"/>
              </a:rPr>
              <a:t>โฟลเดอร์คือสมอง  ·  ไลน์คือปาก  ·  โมเดลคือล่าม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65392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9A59A"/>
                </a:solidFill>
                <a:latin typeface="Inter"/>
                <a:ea typeface="Sarabun"/>
                <a:cs typeface="Sarabun"/>
              </a:rPr>
              <a:t>Axiom Design Core  ·  Editorial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91712"/>
                </a:solidFill>
                <a:latin typeface="Sarabun"/>
                <a:ea typeface="Sarabun"/>
                <a:cs typeface="Sarabun"/>
              </a:rPr>
              <a:t>เริ่มบนแล็ปท็อปได้ แต่รู้ว่าเมื่อไรควรย้าย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365760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1572768"/>
            <a:ext cx="3401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9A59A"/>
                </a:solidFill>
                <a:latin typeface="Inter"/>
                <a:ea typeface="Sarabun"/>
                <a:cs typeface="Sarabun"/>
              </a:rPr>
              <a:t>A  เดโม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828800"/>
            <a:ext cx="3401568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91712"/>
                </a:solidFill>
                <a:latin typeface="Sarabun"/>
                <a:ea typeface="Sarabun"/>
                <a:cs typeface="Sarabun"/>
              </a:rPr>
              <a:t>แล็ปท็อป + Quick Tunnel
เริ่มเร็วที่สุด
เครื่องปิด = บอทหยุด
เหมาะเวิร์กช็อป / นำร่อง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463040"/>
            <a:ext cx="365760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43984" y="1572768"/>
            <a:ext cx="3401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9A59A"/>
                </a:solidFill>
                <a:latin typeface="Inter"/>
                <a:ea typeface="Sarabun"/>
                <a:cs typeface="Sarabun"/>
              </a:rPr>
              <a:t>B  ทีมเล็ก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43984" y="1828800"/>
            <a:ext cx="3401568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91712"/>
                </a:solidFill>
                <a:latin typeface="Sarabun"/>
                <a:ea typeface="Sarabun"/>
                <a:cs typeface="Sarabun"/>
              </a:rPr>
              <a:t>แม็คมินิ / พีซีออฟฟิศ + Named Tunnel
โดเมนคงที่  เปิด 24/7
สำรองเอกสาร + auto restart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463040"/>
            <a:ext cx="356616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4" y="1572768"/>
            <a:ext cx="33101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9A59A"/>
                </a:solidFill>
                <a:latin typeface="Inter"/>
                <a:ea typeface="Sarabun"/>
                <a:cs typeface="Sarabun"/>
              </a:rPr>
              <a:t>C  งานจริง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1828800"/>
            <a:ext cx="3310128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91712"/>
                </a:solidFill>
                <a:latin typeface="Sarabun"/>
                <a:ea typeface="Sarabun"/>
                <a:cs typeface="Sarabun"/>
              </a:rPr>
              <a:t>วีพีเอส + โปรแกรมชุดเดียวกัน
เฝ้าดู  หมุนคีย์  สำรอง
อย่าเปิดพอร์ท 8000 สู่โลก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9A59A"/>
                </a:solidFill>
                <a:latin typeface="Inter"/>
                <a:ea typeface="Sarabun"/>
                <a:cs typeface="Sarabun"/>
              </a:rPr>
              <a:t>DR NON'S DIY RAG  ·  CHATBOT-AS-A-SELF-SERVICE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0116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A9A59A"/>
                </a:solidFill>
                <a:latin typeface="Inter"/>
                <a:ea typeface="Sarabun"/>
                <a:cs typeface="Sarabun"/>
              </a:rPr>
              <a:t>16 /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75488"/>
            <a:ext cx="11274552" cy="12700"/>
          </a:xfrm>
          <a:prstGeom prst="rect">
            <a:avLst/>
          </a:prstGeom>
          <a:solidFill>
            <a:srgbClr val="191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9A59A"/>
                </a:solidFill>
                <a:latin typeface="Inter"/>
                <a:ea typeface="Sarabun"/>
                <a:cs typeface="Sarabun"/>
              </a:rPr>
              <a:t>16  ·  THE END STATE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9A59A"/>
                </a:solidFill>
                <a:latin typeface="Sarabun"/>
                <a:ea typeface="Sarabun"/>
                <a:cs typeface="Sarabun"/>
              </a:rPr>
              <a:t>โฟลเดอร์คือสมอง  ·  ไลน์คือปาก  ·  โมเดลคือล่าม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65392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9A59A"/>
                </a:solidFill>
                <a:latin typeface="Inter"/>
                <a:ea typeface="Sarabun"/>
                <a:cs typeface="Sarabun"/>
              </a:rPr>
              <a:t>Axiom Design Core  ·  Editorial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91712"/>
                </a:solidFill>
                <a:latin typeface="Sarabun"/>
                <a:ea typeface="Sarabun"/>
                <a:cs typeface="Sarabun"/>
              </a:rPr>
              <a:t>ประสบการณ์ที่ควรได้: วางไฟล์ + ใส่ token + กด Start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08760"/>
            <a:ext cx="557784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1618488"/>
            <a:ext cx="5321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9A59A"/>
                </a:solidFill>
                <a:latin typeface="Inter"/>
                <a:ea typeface="Sarabun"/>
                <a:cs typeface="Sarabun"/>
              </a:rPr>
              <a:t>SETUP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874520"/>
            <a:ext cx="5321808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91712"/>
                </a:solidFill>
                <a:latin typeface="Sarabun"/>
                <a:ea typeface="Sarabun"/>
                <a:cs typeface="Sarabun"/>
              </a:rPr>
              <a:t>Knowledge Folder  ./knowledge
LINE Secret  ••••••
LINE Token  ••••••
AI  Groq / Gemini / Ollama gemma4:e4b
BUILD KNOWLEDGE BASE
START BOT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508760"/>
            <a:ext cx="548640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4224" y="1618488"/>
            <a:ext cx="5230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9A59A"/>
                </a:solidFill>
                <a:latin typeface="Inter"/>
                <a:ea typeface="Sarabun"/>
                <a:cs typeface="Sarabun"/>
              </a:rPr>
              <a:t>STATUS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1874520"/>
            <a:ext cx="5230368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322B"/>
                </a:solidFill>
                <a:latin typeface="Sarabun"/>
                <a:ea typeface="Sarabun"/>
                <a:cs typeface="Sarabun"/>
              </a:rPr>
              <a:t>FILES INDEXED
CHUNKS
LINE CONNECTED
WEBHOOK VERIFIED
RAG READY
BOT ONLINE
ถ้าคำถามมั่วยังไม่ถูกปฏิเสธ — ยังห้ามเปิดให้ลูกค้า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9A59A"/>
                </a:solidFill>
                <a:latin typeface="Inter"/>
                <a:ea typeface="Sarabun"/>
                <a:cs typeface="Sarabun"/>
              </a:rPr>
              <a:t>DR NON'S DIY RAG  ·  CHATBOT-AS-A-SELF-SERVICE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0116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A9A59A"/>
                </a:solidFill>
                <a:latin typeface="Inter"/>
                <a:ea typeface="Sarabun"/>
                <a:cs typeface="Sarabun"/>
              </a:rPr>
              <a:t>17 /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75488"/>
            <a:ext cx="11274552" cy="12700"/>
          </a:xfrm>
          <a:prstGeom prst="rect">
            <a:avLst/>
          </a:prstGeom>
          <a:solidFill>
            <a:srgbClr val="191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9A59A"/>
                </a:solidFill>
                <a:latin typeface="Inter"/>
                <a:ea typeface="Sarabun"/>
                <a:cs typeface="Sarabun"/>
              </a:rPr>
              <a:t>17  ·  COPY / PASTE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9A59A"/>
                </a:solidFill>
                <a:latin typeface="Sarabun"/>
                <a:ea typeface="Sarabun"/>
                <a:cs typeface="Sarabun"/>
              </a:rPr>
              <a:t>โฟลเดอร์คือสมอง  ·  ไลน์คือปาก  ·  โมเดลคือล่าม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65392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9A59A"/>
                </a:solidFill>
                <a:latin typeface="Inter"/>
                <a:ea typeface="Sarabun"/>
                <a:cs typeface="Sarabun"/>
              </a:rPr>
              <a:t>Axiom Design Core  ·  Editorial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91712"/>
                </a:solidFill>
                <a:latin typeface="Sarabun"/>
                <a:ea typeface="Sarabun"/>
                <a:cs typeface="Sarabun"/>
              </a:rPr>
              <a:t>ห้าคำสั่ง — ที่เหลือคือการจับมือบนเว็บ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37160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 i="0">
                <a:solidFill>
                  <a:srgbClr val="191712"/>
                </a:solidFill>
                <a:latin typeface="Sarabun"/>
                <a:ea typeface="Sarabun"/>
                <a:cs typeface="Sarabun"/>
              </a:rPr>
              <a:t>git clone https://github.com/Nonarkara/diy-rag-chatbot.git &amp;&amp; cd diy-rag-chatbot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191712"/>
                </a:solidFill>
                <a:latin typeface="Sarabun"/>
                <a:ea typeface="Sarabun"/>
                <a:cs typeface="Sarabun"/>
              </a:rPr>
              <a:t>เปิดเอเจนต์ในโฟลเดอร์นี้  แล้ววาง: อ่าน AGENTS.md กับ START-HERE.md แล้วพาฉันทำทีละขั้น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191712"/>
                </a:solidFill>
                <a:latin typeface="Sarabun"/>
                <a:ea typeface="Sarabun"/>
                <a:cs typeface="Sarabun"/>
              </a:rPr>
              <a:t>เมื่อมี START.command แล้ว:  ./START.command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191712"/>
                </a:solidFill>
                <a:latin typeface="Sarabun"/>
                <a:ea typeface="Sarabun"/>
                <a:cs typeface="Sarabun"/>
              </a:rPr>
              <a:t>cloudflared tunnel --url http://127.0.0.1:8000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191712"/>
                </a:solidFill>
                <a:latin typeface="Sarabun"/>
                <a:ea typeface="Sarabun"/>
                <a:cs typeface="Sarabun"/>
              </a:rPr>
              <a:t>วาง https://….trycloudflare.com/webhook ใน Console แล้วกด Verify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191712"/>
                </a:solidFill>
                <a:latin typeface="Sarabun"/>
                <a:ea typeface="Sarabun"/>
                <a:cs typeface="Sarabun"/>
              </a:rPr>
              <a:t>สไลด์ภาษาไทยเต็ม 31 หน้า:  deck/index.html   หรือ  nonarkara.github.io/diy-rag-chatbot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9A59A"/>
                </a:solidFill>
                <a:latin typeface="Inter"/>
                <a:ea typeface="Sarabun"/>
                <a:cs typeface="Sarabun"/>
              </a:rPr>
              <a:t>DR NON'S DIY RAG  ·  CHATBOT-AS-A-SELF-SERVICE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0116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A9A59A"/>
                </a:solidFill>
                <a:latin typeface="Inter"/>
                <a:ea typeface="Sarabun"/>
                <a:cs typeface="Sarabun"/>
              </a:rPr>
              <a:t>18 /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75488"/>
            <a:ext cx="11274552" cy="12700"/>
          </a:xfrm>
          <a:prstGeom prst="rect">
            <a:avLst/>
          </a:prstGeom>
          <a:solidFill>
            <a:srgbClr val="191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9A59A"/>
                </a:solidFill>
                <a:latin typeface="Inter"/>
                <a:ea typeface="Sarabun"/>
                <a:cs typeface="Sarabun"/>
              </a:rPr>
              <a:t>18  ·  GO LIVE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9A59A"/>
                </a:solidFill>
                <a:latin typeface="Sarabun"/>
                <a:ea typeface="Sarabun"/>
                <a:cs typeface="Sarabun"/>
              </a:rPr>
              <a:t>โฟลเดอร์คือสมอง  ·  ไลน์คือปาก  ·  โมเดลคือล่าม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65392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9A59A"/>
                </a:solidFill>
                <a:latin typeface="Inter"/>
                <a:ea typeface="Sarabun"/>
                <a:cs typeface="Sarabun"/>
              </a:rPr>
              <a:t>Axiom Design Core  ·  Editorial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91712"/>
                </a:solidFill>
                <a:latin typeface="Sarabun"/>
                <a:ea typeface="Sarabun"/>
                <a:cs typeface="Sarabun"/>
              </a:rPr>
              <a:t>เมื่อแปดช่องนี้เป็น — บอทพร้อมให้คนอื่นใช้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37160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 i="0">
                <a:solidFill>
                  <a:srgbClr val="191712"/>
                </a:solidFill>
                <a:latin typeface="Sarabun"/>
                <a:ea typeface="Sarabun"/>
                <a:cs typeface="Sarabun"/>
              </a:rPr>
              <a:t>ไฟล์ทั้งหมดอยู่ใน ./knowledge และอ่านได้จริง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191712"/>
                </a:solidFill>
                <a:latin typeface="Sarabun"/>
                <a:ea typeface="Sarabun"/>
                <a:cs typeface="Sarabun"/>
              </a:rPr>
              <a:t>ดัชนีพร้อม  เปลี่ยนไฟล์แล้ว re-index เฉพาะไฟล์นั้น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191712"/>
                </a:solidFill>
                <a:latin typeface="Sarabun"/>
                <a:ea typeface="Sarabun"/>
                <a:cs typeface="Sarabun"/>
              </a:rPr>
              <a:t>LINE OA เปิด Messaging API แล้ว  ทักทายอัตโนมัติปิด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191712"/>
                </a:solidFill>
                <a:latin typeface="Sarabun"/>
                <a:ea typeface="Sarabun"/>
                <a:cs typeface="Sarabun"/>
              </a:rPr>
              <a:t>Channel Secret / Access Token อยู่ใน .env ไม่ได้อยู่ใน Git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191712"/>
                </a:solidFill>
                <a:latin typeface="Sarabun"/>
                <a:ea typeface="Sarabun"/>
                <a:cs typeface="Sarabun"/>
              </a:rPr>
              <a:t>Webhook เป็น HTTPS และ Verify ผ่าน  ลายเซ็นถูกตรวจทุกครั้ง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191712"/>
                </a:solidFill>
                <a:latin typeface="Sarabun"/>
                <a:ea typeface="Sarabun"/>
                <a:cs typeface="Sarabun"/>
              </a:rPr>
              <a:t>คำถามที่ไม่มีหลักฐานไม่ถูกแต่งคำตอบ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191712"/>
                </a:solidFill>
                <a:latin typeface="Sarabun"/>
                <a:ea typeface="Sarabun"/>
                <a:cs typeface="Sarabun"/>
              </a:rPr>
              <a:t>เครื่อง/เซิร์ฟเวอร์เปิดต่อเนื่อง มี restart และสำรองเอกสาร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191712"/>
                </a:solidFill>
                <a:latin typeface="Sarabun"/>
                <a:ea typeface="Sarabun"/>
                <a:cs typeface="Sarabun"/>
              </a:rPr>
              <a:t>นี่ไม่ใช่ผลิตภัณฑ์ทางการของ depa หรือ LINE  — ชุดสอนของดร.นน / Axiom 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